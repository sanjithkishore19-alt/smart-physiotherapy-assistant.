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291840" cy="32918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011680" cy="2011680"/>
          </a:xfrm>
          <a:prstGeom prst="ellipse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580644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PROJECT REVIEW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Physiotherapy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Arduino-based joint movement tracking to guide and log physiotherapy exercises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1280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029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|  Domain: Embedded Systems / Healthcare Tech  |  Language: 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continuous, quantifiable record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916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tools (goniometers, therapist observation) give a single subjective reading and leave no continuous log of joint range of motion between clinic visits.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963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sketches don't scale to long sessions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862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Memory-heavy constructs (String concatenation, unbounded arrays) fragment the limited SRAM (2KB on an Arduino Uno) if a session runs for many samples.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1246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12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66674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real-time safety fail-safe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03250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immediate alert, a patient can overextend a joint during an unsupervised exercise and risk re-injury before anyone notices.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8289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882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83717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2029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C-native system that computes joint angle in real time, persists history without heap allocation, and gives instant threshold-based feedback.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Physiotherapy Assistant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4846320"/>
          </a:xfrm>
          <a:prstGeom prst="rect">
            <a:avLst/>
          </a:prstGeom>
          <a:solidFill>
            <a:srgbClr val="F7FA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Arduino-based wearable/attachable unit that senses joint movement, gives instant feedback, and keeps a digital record of every session.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real-time elbow / knee bend angle using an MPU6050 sensor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 full repetition (extend → flex → extend) and counts it automatically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LED alert the patient the moment a movement crosses an unsafe threshold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each session's min / max / average angle for progress comparison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system is built and demonstrated as a simulation on Wokwi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46304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938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reads joint angle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rot="10800000">
            <a:off x="8851392" y="2514600"/>
            <a:ext cx="219456" cy="164592"/>
          </a:xfrm>
          <a:prstGeom prst="triangle">
            <a:avLst/>
          </a:prstGeom>
          <a:solidFill>
            <a:srgbClr val="5B6E70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761488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8712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2369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computes angle &amp; checks threshold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rot="10800000">
            <a:off x="8851392" y="3813048"/>
            <a:ext cx="219456" cy="164592"/>
          </a:xfrm>
          <a:prstGeom prst="triangle">
            <a:avLst/>
          </a:prstGeom>
          <a:solidFill>
            <a:srgbClr val="5B6E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4059936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41696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5354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/ LED feedback in real time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rot="10800000">
            <a:off x="8851392" y="5111496"/>
            <a:ext cx="219456" cy="164592"/>
          </a:xfrm>
          <a:prstGeom prst="triangle">
            <a:avLst/>
          </a:prstGeom>
          <a:solidFill>
            <a:srgbClr val="5B6E7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5358384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5468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58338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data saved for review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Physiotherapy Assistant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of the Idea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Physiotherapy Assistant — grounded in low-cost, well-documented components and a simulation-first build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4805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2148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standard, well-documented parts (Arduino Uno, MPU6050) with mature C libraries — no exotic hardware or custom silicon needed.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06040" cy="44805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8745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926080"/>
            <a:ext cx="2148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are low-cost and widely available; the simulation-based build removes hardware cost entirely for this review stage.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06040" cy="44805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874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926080"/>
            <a:ext cx="2148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microcontroller, single sensor pipeline — fits comfortably within a C course project's timeframe and complexity target.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606040" cy="44805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1874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11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2926080"/>
            <a:ext cx="2148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enum-based body-part design and modular functions let the same code extend to more joints or add wireless logging later.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Physiotherapy Assistant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Concepts Used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core feature is a deliberate showcase of a fundamental C concept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1097280"/>
          </a:xfrm>
          <a:prstGeom prst="roundRect">
            <a:avLst>
              <a:gd name="adj" fmla="val 4167"/>
            </a:avLst>
          </a:prstGeom>
          <a:solidFill>
            <a:srgbClr val="F7FA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73152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490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013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related session data (angle, timestamp, rep count, patient ID) into a single organized memory block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417320"/>
            <a:ext cx="3566160" cy="1097280"/>
          </a:xfrm>
          <a:prstGeom prst="roundRect">
            <a:avLst>
              <a:gd name="adj" fmla="val 4167"/>
            </a:avLst>
          </a:prstGeom>
          <a:solidFill>
            <a:srgbClr val="F7FAF9"/>
          </a:solidFill>
          <a:ln/>
        </p:spPr>
      </p:sp>
      <p:sp>
        <p:nvSpPr>
          <p:cNvPr id="9" name="Shape 7"/>
          <p:cNvSpPr/>
          <p:nvPr/>
        </p:nvSpPr>
        <p:spPr>
          <a:xfrm>
            <a:off x="4251960" y="1417320"/>
            <a:ext cx="73152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1490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Pointers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18013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session data by reference into logging/threshold functions, avoiding costly struct copies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1417320"/>
            <a:ext cx="3566160" cy="1097280"/>
          </a:xfrm>
          <a:prstGeom prst="roundRect">
            <a:avLst>
              <a:gd name="adj" fmla="val 4167"/>
            </a:avLst>
          </a:prstGeom>
          <a:solidFill>
            <a:srgbClr val="F7FAF9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141732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3880" y="1490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Enums &amp; Switch-case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18013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body part and session state (ELBOW, KNEE, IDLE, ACTIVE) without magic numbers, dispatched in the main loop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624328"/>
            <a:ext cx="3566160" cy="1097280"/>
          </a:xfrm>
          <a:prstGeom prst="roundRect">
            <a:avLst>
              <a:gd name="adj" fmla="val 4167"/>
            </a:avLst>
          </a:prstGeom>
          <a:solidFill>
            <a:srgbClr val="F7FA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624328"/>
            <a:ext cx="73152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 buffers (Arrays)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00837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a rolling log of the last N angle samples using modulo arithmetic instead of unbounded storage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2624328"/>
            <a:ext cx="3566160" cy="1097280"/>
          </a:xfrm>
          <a:prstGeom prst="roundRect">
            <a:avLst>
              <a:gd name="adj" fmla="val 4167"/>
            </a:avLst>
          </a:prstGeom>
          <a:solidFill>
            <a:srgbClr val="F7FA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251960" y="2624328"/>
            <a:ext cx="73152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8056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300837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sensor polling and edge-detection logic used to count a full extend-flex-extend rep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55280" y="2624328"/>
            <a:ext cx="3566160" cy="1097280"/>
          </a:xfrm>
          <a:prstGeom prst="roundRect">
            <a:avLst>
              <a:gd name="adj" fmla="val 4167"/>
            </a:avLst>
          </a:prstGeom>
          <a:solidFill>
            <a:srgbClr val="F7FAF9"/>
          </a:solidFill>
          <a:ln/>
        </p:spPr>
      </p:sp>
      <p:sp>
        <p:nvSpPr>
          <p:cNvPr id="25" name="Shape 23"/>
          <p:cNvSpPr/>
          <p:nvPr/>
        </p:nvSpPr>
        <p:spPr>
          <a:xfrm>
            <a:off x="7955280" y="2624328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8388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EEPROM (native file I/O)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300837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Persisting the calibration baseline and session summaries across power cycles with no heap allocation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831336"/>
            <a:ext cx="3566160" cy="1097280"/>
          </a:xfrm>
          <a:prstGeom prst="roundRect">
            <a:avLst>
              <a:gd name="adj" fmla="val 4167"/>
            </a:avLst>
          </a:prstGeom>
          <a:solidFill>
            <a:srgbClr val="F7FAF9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3831336"/>
            <a:ext cx="73152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3904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Macros (#define)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421538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threshold angles, pin numbers, and buffer sizes at compile time instead of runtime constants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51960" y="3831336"/>
            <a:ext cx="3566160" cy="1097280"/>
          </a:xfrm>
          <a:prstGeom prst="roundRect">
            <a:avLst>
              <a:gd name="adj" fmla="val 4167"/>
            </a:avLst>
          </a:prstGeom>
          <a:solidFill>
            <a:srgbClr val="F7FAF9"/>
          </a:solidFill>
          <a:ln/>
        </p:spPr>
      </p:sp>
      <p:sp>
        <p:nvSpPr>
          <p:cNvPr id="33" name="Shape 31"/>
          <p:cNvSpPr/>
          <p:nvPr/>
        </p:nvSpPr>
        <p:spPr>
          <a:xfrm>
            <a:off x="4251960" y="3831336"/>
            <a:ext cx="73152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480560" y="3904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Static/global vars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480560" y="421538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the session counter and lifetime rep total across loop iterations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55280" y="3831336"/>
            <a:ext cx="3566160" cy="1097280"/>
          </a:xfrm>
          <a:prstGeom prst="roundRect">
            <a:avLst>
              <a:gd name="adj" fmla="val 4167"/>
            </a:avLst>
          </a:prstGeom>
          <a:solidFill>
            <a:srgbClr val="F7FAF9"/>
          </a:solidFill>
          <a:ln/>
        </p:spPr>
      </p:sp>
      <p:sp>
        <p:nvSpPr>
          <p:cNvPr id="37" name="Shape 35"/>
          <p:cNvSpPr/>
          <p:nvPr/>
        </p:nvSpPr>
        <p:spPr>
          <a:xfrm>
            <a:off x="7955280" y="3831336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183880" y="3904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183880" y="421538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the recursive min/max across a session's angle log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038344"/>
            <a:ext cx="3566160" cy="1097280"/>
          </a:xfrm>
          <a:prstGeom prst="roundRect">
            <a:avLst>
              <a:gd name="adj" fmla="val 4167"/>
            </a:avLst>
          </a:prstGeom>
          <a:solidFill>
            <a:srgbClr val="F7FAF9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5038344"/>
            <a:ext cx="73152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77240" y="51114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Sorting/searching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77240" y="54223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stored sessions by best/worst range of motion for the summary report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51960" y="5038344"/>
            <a:ext cx="3566160" cy="1097280"/>
          </a:xfrm>
          <a:prstGeom prst="roundRect">
            <a:avLst>
              <a:gd name="adj" fmla="val 4167"/>
            </a:avLst>
          </a:prstGeom>
          <a:solidFill>
            <a:srgbClr val="F7FAF9"/>
          </a:solidFill>
          <a:ln/>
        </p:spPr>
      </p:sp>
      <p:sp>
        <p:nvSpPr>
          <p:cNvPr id="45" name="Shape 43"/>
          <p:cNvSpPr/>
          <p:nvPr/>
        </p:nvSpPr>
        <p:spPr>
          <a:xfrm>
            <a:off x="4251960" y="5038344"/>
            <a:ext cx="73152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480560" y="51114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Bitwise operations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480560" y="54223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status flags (calibrated, threshold breached, session active) into a single byte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955280" y="5038344"/>
            <a:ext cx="3566160" cy="1097280"/>
          </a:xfrm>
          <a:prstGeom prst="roundRect">
            <a:avLst>
              <a:gd name="adj" fmla="val 4167"/>
            </a:avLst>
          </a:prstGeom>
          <a:solidFill>
            <a:srgbClr val="F7FAF9"/>
          </a:solidFill>
          <a:ln/>
        </p:spPr>
      </p:sp>
      <p:sp>
        <p:nvSpPr>
          <p:cNvPr id="49" name="Shape 47"/>
          <p:cNvSpPr/>
          <p:nvPr/>
        </p:nvSpPr>
        <p:spPr>
          <a:xfrm>
            <a:off x="7955280" y="5038344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183880" y="51114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C-strings (char[], string.h)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183880" y="54223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stack-based formatting of the serial menu and CSV-style export lines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Physiotherapy Assistant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301752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1792" y="3154680"/>
            <a:ext cx="1728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(MPU6050)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 rot="5400000">
            <a:off x="2524887" y="3639312"/>
            <a:ext cx="256032" cy="219456"/>
          </a:xfrm>
          <a:prstGeom prst="triangle">
            <a:avLst/>
          </a:prstGeom>
          <a:solidFill>
            <a:srgbClr val="5B6E70"/>
          </a:solidFill>
          <a:ln/>
        </p:spPr>
      </p:sp>
      <p:sp>
        <p:nvSpPr>
          <p:cNvPr id="6" name="Shape 4"/>
          <p:cNvSpPr/>
          <p:nvPr/>
        </p:nvSpPr>
        <p:spPr>
          <a:xfrm>
            <a:off x="2846070" y="301752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19222" y="3154680"/>
            <a:ext cx="1728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Computes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Angle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4822317" y="3639312"/>
            <a:ext cx="256032" cy="219456"/>
          </a:xfrm>
          <a:prstGeom prst="triangle">
            <a:avLst/>
          </a:prstGeom>
          <a:solidFill>
            <a:srgbClr val="5B6E70"/>
          </a:solidFill>
          <a:ln/>
        </p:spPr>
      </p:sp>
      <p:sp>
        <p:nvSpPr>
          <p:cNvPr id="9" name="Shape 7"/>
          <p:cNvSpPr/>
          <p:nvPr/>
        </p:nvSpPr>
        <p:spPr>
          <a:xfrm>
            <a:off x="5143500" y="301752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16652" y="3154680"/>
            <a:ext cx="1728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Check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(safe / unsafe)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5400000">
            <a:off x="7119747" y="3639312"/>
            <a:ext cx="256032" cy="219456"/>
          </a:xfrm>
          <a:prstGeom prst="triangle">
            <a:avLst/>
          </a:prstGeom>
          <a:solidFill>
            <a:srgbClr val="5B6E70"/>
          </a:solidFill>
          <a:ln/>
        </p:spPr>
      </p:sp>
      <p:sp>
        <p:nvSpPr>
          <p:cNvPr id="12" name="Shape 10"/>
          <p:cNvSpPr/>
          <p:nvPr/>
        </p:nvSpPr>
        <p:spPr>
          <a:xfrm>
            <a:off x="7440930" y="301752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14082" y="3154680"/>
            <a:ext cx="1728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(LED + Buzzer)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9417177" y="3639312"/>
            <a:ext cx="256032" cy="219456"/>
          </a:xfrm>
          <a:prstGeom prst="triangle">
            <a:avLst/>
          </a:prstGeom>
          <a:solidFill>
            <a:srgbClr val="5B6E70"/>
          </a:solidFill>
          <a:ln/>
        </p:spPr>
      </p:sp>
      <p:sp>
        <p:nvSpPr>
          <p:cNvPr id="15" name="Shape 13"/>
          <p:cNvSpPr/>
          <p:nvPr/>
        </p:nvSpPr>
        <p:spPr>
          <a:xfrm>
            <a:off x="9738360" y="301752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811512" y="3154680"/>
            <a:ext cx="1728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(EEPROM / SD)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loop: every exercise repetition is sensed, evaluated against a safe range, and immediately reflected back to the patient — with a permanent record kept for the next session.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Physiotherapy Assistant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Requirements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4754880"/>
          </a:xfrm>
          <a:prstGeom prst="roundRect">
            <a:avLst>
              <a:gd name="adj" fmla="val 1519"/>
            </a:avLst>
          </a:prstGeom>
          <a:solidFill>
            <a:srgbClr val="F7FAF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61188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(simulated)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accelerometer + gyroscope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 — calibration trigger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LED — safety alert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16x2 LCD — optional live readout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611880" cy="4754880"/>
          </a:xfrm>
          <a:prstGeom prst="roundRect">
            <a:avLst>
              <a:gd name="adj" fmla="val 1519"/>
            </a:avLst>
          </a:prstGeom>
          <a:solidFill>
            <a:srgbClr val="F7FAF9"/>
          </a:solidFill>
          <a:ln/>
        </p:spPr>
      </p:sp>
      <p:sp>
        <p:nvSpPr>
          <p:cNvPr id="8" name="Shape 6"/>
          <p:cNvSpPr/>
          <p:nvPr/>
        </p:nvSpPr>
        <p:spPr>
          <a:xfrm>
            <a:off x="4343400" y="1463040"/>
            <a:ext cx="3611880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4630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/ Environment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2402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Online Simulator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(code authoring)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611880" cy="4754880"/>
          </a:xfrm>
          <a:prstGeom prst="roundRect">
            <a:avLst>
              <a:gd name="adj" fmla="val 1519"/>
            </a:avLst>
          </a:prstGeom>
          <a:solidFill>
            <a:srgbClr val="F7FA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138160" y="1463040"/>
            <a:ext cx="3611880" cy="594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14630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Libraries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2402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Wire.h — I2C communication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MPU6050.h / Adafruit_MPU6050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EEPROM.h — persistence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LiquidCrystal.h — LCD output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Physiotherapy Assistant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6459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7627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Angle Readout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1460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joint angle value streamed to the Serial Monitor (or LCD) throughout each exercise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46304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53128" y="164592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53128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53128" y="217627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Rep Counter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453128" y="251460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full extend-flex-extend cycle detected and tallied without manual input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0" y="146304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164592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56448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56448" y="217627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Safety Alert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156448" y="251460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buzzer + LED warning the instant a movement exceeds a pre-defined safe angle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37490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27939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Summary Report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61772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Min, max, and average angle computed and displayed at the end of each session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51960" y="356616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53128" y="374904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453128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453128" y="427939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Session History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453128" y="461772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session data retained across power cycles (EEPROM) and retrievable via the serial menu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955280" y="356616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56448" y="37490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56448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156448" y="427939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Trend Export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156448" y="461772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CSV-style log of stored sessions, showing whether range of motion is improving over time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Physiotherapy Assistant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-365760"/>
            <a:ext cx="1828800" cy="1828800"/>
          </a:xfrm>
          <a:prstGeom prst="ellipse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Physiotherapy Assistant demonstrates how core C programming concepts — structs, pointers, enums, file I/O, and more — combine to build a genuinely useful embedded system.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tracking to multiple joints simultaneously (shoulder, wrist, ankle)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wireless (ESP8266) logging to a companion mobile app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storage for therapist review across sessions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trend analysis / ML-based movement quality scoring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303520"/>
            <a:ext cx="1280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486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2026-09-17T20:31:56Z</dcterms:created>
  <dcterms:modified xsi:type="dcterms:W3CDTF">2026-09-17T20:31:56Z</dcterms:modified>
</cp:coreProperties>
</file>